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Outfit"/>
      <p:regular r:id="rId23"/>
      <p:bold r:id="rId24"/>
    </p:embeddedFont>
    <p:embeddedFont>
      <p:font typeface="Plus Jakarta Sans SemiBold"/>
      <p:regular r:id="rId25"/>
      <p:bold r:id="rId26"/>
      <p:italic r:id="rId27"/>
      <p:boldItalic r:id="rId28"/>
    </p:embeddedFont>
    <p:embeddedFont>
      <p:font typeface="Outfit SemiBo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Outfit-bold.fntdata"/><Relationship Id="rId23" Type="http://schemas.openxmlformats.org/officeDocument/2006/relationships/font" Target="fonts/Outfi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bold.fntdata"/><Relationship Id="rId25" Type="http://schemas.openxmlformats.org/officeDocument/2006/relationships/font" Target="fonts/PlusJakartaSansSemiBold-regular.fntdata"/><Relationship Id="rId28" Type="http://schemas.openxmlformats.org/officeDocument/2006/relationships/font" Target="fonts/PlusJakartaSansSemiBold-boldItalic.fntdata"/><Relationship Id="rId27" Type="http://schemas.openxmlformats.org/officeDocument/2006/relationships/font" Target="fonts/PlusJakarta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utfit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utfit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27.png"/><Relationship Id="rId10" Type="http://schemas.openxmlformats.org/officeDocument/2006/relationships/image" Target="../media/image2.png"/><Relationship Id="rId12" Type="http://schemas.openxmlformats.org/officeDocument/2006/relationships/image" Target="../media/image28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2" Type="http://schemas.openxmlformats.org/officeDocument/2006/relationships/image" Target="../media/image20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-2890" l="0" r="0" t="289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4060477"/>
            <a:ext cx="9048750" cy="1175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7287" y="1622375"/>
            <a:ext cx="22574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345406" y="2079575"/>
            <a:ext cx="950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App</a:t>
            </a: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Web de Control de Inventario y Ventas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571625" y="4260502"/>
            <a:ext cx="508813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INTEGRANTES (GRUPO DES02-01)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571625" y="4489102"/>
            <a:ext cx="484584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Ruth Marina Morales Romero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571625" y="4675733"/>
            <a:ext cx="484584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Jerson David Cabrera Chicas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571625" y="4862363"/>
            <a:ext cx="484584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Mauricio Enrique Coreas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55593" y="4260502"/>
            <a:ext cx="416302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DETALLES ACADÉMICOS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655593" y="4489102"/>
            <a:ext cx="3964781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Carrera:</a:t>
            </a:r>
            <a:r>
              <a:rPr b="0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2° Año de Técnico en Ingeniería de Desarrollo de Software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655593" y="4862363"/>
            <a:ext cx="396478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Módulo:</a:t>
            </a:r>
            <a:r>
              <a:rPr b="0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Desarrollo de aplicaciones Web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655593" y="5048994"/>
            <a:ext cx="396478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Docente:</a:t>
            </a:r>
            <a:r>
              <a:rPr b="0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Ing. Eduardo José Vásquez Flores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619750" y="2695575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045493" y="2971800"/>
            <a:ext cx="810101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01. Justificación y Problemática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6937"/>
            <a:ext cx="53244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66937"/>
            <a:ext cx="53244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57250" y="24431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El Objetivo del Proyecto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28241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Desarrollar una aplicación web integral, modular y segura para la tienda de tecnología: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3395662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**Centralizar** la información operativa para evitar el desorden.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3738562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**Optimizar** la velocidad de cobro y tiempos de respuesta en caja.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4081462"/>
            <a:ext cx="4772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**Garantizar** reportes contables inmediatos y  fiables para la toma de decisiones.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562725" y="24431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 Problemática del Registro Manual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62725" y="28241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esquema tradicional basado en cuadernos u hojas abiertas genera serios retrasos: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62725" y="33956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**Descuadres constantes:** La cantidad física no coincide con lo apuntado.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62725" y="39671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**Errores matemáticos:** Cálculos manuales fallidos al desglosar IVA en caja.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62725" y="4538662"/>
            <a:ext cx="47721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**Cero visibilidad:** Imposibilidad de saber qué productos se venden más al día </a:t>
            </a: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y/o cuales  productos presentan desabastecimiento u stock bajo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Objetivos y Problemática Actual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6937"/>
            <a:ext cx="53244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66937"/>
            <a:ext cx="53244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57250" y="24431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Pérdidas Económicas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28241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ineficiencia operativa del control manual tiene un costo directo para el comercio: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33956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**Inconsistencia física:** Compras de stock innecesarias por no conocer el inventario real.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39671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**Clientes descontentos:** Colas lentas por sumas hechas a mano en el mostrador.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45386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**Fuga silenciosa:** Pérdida de productos de alto valor sin rastro del responsable.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62725" y="24431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Vulnerabilidad de Datos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62725" y="28241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hojas de cálculo convencionales no ofrecen protección en entornos de trabajo multiusuario: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62725" y="33956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**Cero restricciones:** Cualquier empleado puede modificar el inventario o ver los costos de adquisición.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62725" y="39671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**Falta de privacidad:** Datos personales de clientes clave expuestos sin encriptación.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62725" y="45386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**Manipulación de historial:** Registros de venta que pueden alterarse sin dejar rastro.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Vulnerabilidades del Negocio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5619750" y="2695575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675447" y="2971800"/>
            <a:ext cx="884110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02. Propuesta Técnica y Seguridad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6975"/>
            <a:ext cx="354969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466975"/>
            <a:ext cx="354969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466975"/>
            <a:ext cx="354969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0050" y="2714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1580703" y="3429000"/>
            <a:ext cx="155019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 Pantalla (UI)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28675" y="3810000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capa visual del usuario hecha con HTML5 y Bootstrap 5. Diseñada para que cualquier cajero facture de inmediato con mínima fatiga visual.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14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130879" y="3429000"/>
            <a:ext cx="19302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El Cerebro (Lógica)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568874" y="3810000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Controlador en PHP que procesa las reglas del negocio: valida la bodega física, calcula subtotales e impuestos y restringe operaciones.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0449" y="2714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811071" y="3429000"/>
            <a:ext cx="205025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El Almacén (MySQL)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09074" y="3810000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Nuestra base de datos relacional. Evita el "código espagueti" y almacena productos, transacciones y clientes de forma ordenada y persistente.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51025" y="28956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91225" y="28956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45712" y="289560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Organización Modular en Capas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886" y="2281237"/>
            <a:ext cx="5324474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81237"/>
            <a:ext cx="5324475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857250" y="25574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Roles Definidos del Sistema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57250" y="2938462"/>
            <a:ext cx="4772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Segmentación jerárquica para </a:t>
            </a: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proteger el  negocio de malos procesos    y/25 fraudes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57250" y="3509962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**Administrador:** Control total estratégico y gestión de personal.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57250" y="38528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**Supervisor:** Enfoque operativo en inventario y bodega (usuarios bloqueados).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57250" y="4424362"/>
            <a:ext cx="4772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**Vendedor / Cajero:** Limitado  al punto de venta y su historial.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562725" y="25574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Mecanismo de Seguridad Activa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562725" y="2938462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Implementación técnica a nivel de servidor y cliente: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562725" y="32813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**Sesión Segura:** Cifrado de contraseñas y control de sesión por inactividad.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562725" y="38528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**Sidebar Inteligente:** El menú filtra opciones y solo renderiza lo autorizado.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562725" y="44243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**Filtro de Servidor:** Si se digita un enlace prohibido, el script redirige con un **exit()**.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Control de Acceso y Roles (RBAC)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5619750" y="2695575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535555" y="2971800"/>
            <a:ext cx="712089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03. Reglas de Negocio e IVA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2762250" y="3790950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Cómo automatizamos la bodega física, el cálculo del IVA 13% y el cumplimiento fiscal en El Salvador.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675" y="-22473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2654707"/>
            <a:ext cx="2536775" cy="1099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1608" y="2654732"/>
            <a:ext cx="2536775" cy="1099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2592" y="2654707"/>
            <a:ext cx="2536775" cy="10990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79779" y="2793157"/>
            <a:ext cx="228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Control Preventivo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34225" y="3060582"/>
            <a:ext cx="2174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sistema valida el stock antes del cobro; bloquea transacciones si la demanda supera la existencia real.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255387" y="2793157"/>
            <a:ext cx="228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Resta Inmediata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309771" y="3189020"/>
            <a:ext cx="2174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Tras confirmarse el pago, las unidades vendidas se descuentan instantáneamente del inventario digital.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142621" y="2751832"/>
            <a:ext cx="228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 Reversión Automática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319600" y="3032627"/>
            <a:ext cx="2174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anular una venta errónea, el stock del detalle se suma de regreso de inmediato al almacén físico.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Flujo Autónomo de Inventario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754162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45568"/>
            <a:ext cx="532447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855243"/>
            <a:ext cx="5324475" cy="105251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6286500" y="2645568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Desglose Automático y Transparente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286500" y="3026568"/>
            <a:ext cx="5324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 normativa de consumo local en El Salvador, los precios finales al público deben incluir el IVA. El sistema desglosa los impuestos a la inversa sin recargar montos extra en el cobro: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23925" y="2988468"/>
            <a:ext cx="46386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13%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23925" y="4179093"/>
            <a:ext cx="4638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IVA Incluid</a:t>
            </a:r>
            <a:r>
              <a:rPr lang="en-US" sz="135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467475" y="4036218"/>
            <a:ext cx="2143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FÓRMULAS MATEMÁTICAS DE CAJA:</a:t>
            </a:r>
            <a:endParaRPr/>
          </a:p>
        </p:txBody>
      </p:sp>
      <p:pic>
        <p:nvPicPr>
          <p:cNvPr descr="image.png" id="226" name="Google Shape;22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7475" y="4302918"/>
            <a:ext cx="1190029" cy="157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7475" y="4574381"/>
            <a:ext cx="2204442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Precisión en Cálculo de IVA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1237"/>
            <a:ext cx="5324475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81237"/>
            <a:ext cx="5324475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857250" y="25574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Cliente Consumidor Final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57250" y="2938462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Optimizado para compras de paso en el mostrador del negocio: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857250" y="32813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El sistema activa dinámicamente el campo de **DUI** para un registro ágil.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57250" y="38528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Los campos corporativos complejos permanecen ocultos y deshabilitados.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57250" y="4424362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Genera un tiquete normal, limpio y libre de campos vacíos.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562725" y="2557462"/>
            <a:ext cx="50106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Cliente Empresa (Crédito Fiscal)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562725" y="2938462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Habilitado para transacciones corporativas y comerciales medianas: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562725" y="32813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El formulario detecta la selección y despliega los campos tributarios requeridos.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562725" y="3852862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Habilita de forma obligatoria los campos de **NIT**, **NRC** y **Giro Comercial**.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Facturación Dinámica Local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6975"/>
            <a:ext cx="354969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466975"/>
            <a:ext cx="354969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466975"/>
            <a:ext cx="354969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0050" y="2714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1200656" y="3429000"/>
            <a:ext cx="23102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Alerta de Stock Crítico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828675" y="3810000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Muestra automáticamente los productos con 5 o menos unidades, previniendo el desabastecimiento de artículos de alta demanda.</a:t>
            </a:r>
            <a:endParaRPr/>
          </a:p>
        </p:txBody>
      </p:sp>
      <p:pic>
        <p:nvPicPr>
          <p:cNvPr descr="image.png" id="259" name="Google Shape;25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14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290899" y="3429000"/>
            <a:ext cx="16102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Filtro de Fechas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4568874" y="3810000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Reportes de ingresos acumulados escalables entre rangos (Desde/Hasta). Permite cuadres de caja diarios, semanales o mensuales en segundos.</a:t>
            </a:r>
            <a:endParaRPr/>
          </a:p>
        </p:txBody>
      </p:sp>
      <p:pic>
        <p:nvPicPr>
          <p:cNvPr descr="image.png" id="262" name="Google Shape;262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0449" y="2714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9006095" y="3429000"/>
            <a:ext cx="16602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Ranking Estrella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8309074" y="3810000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Identificación de los artículos más vendidos para enfocar promociones y compras estratégicas con los proveedores de tecnología.</a:t>
            </a:r>
            <a:endParaRPr/>
          </a:p>
        </p:txBody>
      </p:sp>
      <p:pic>
        <p:nvPicPr>
          <p:cNvPr descr="image.png" id="265" name="Google Shape;265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51025" y="28956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05512" y="28956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17137" y="289560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723900" y="581025"/>
            <a:ext cx="11431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Inteligencia de Negocios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305276" y="2315467"/>
            <a:ext cx="1158144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¿Preguntas o Comentarios?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581025" y="3229867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Agradecemos profundamente su tiempo y atención durante esta presentación.</a:t>
            </a:r>
            <a:endParaRPr/>
          </a:p>
        </p:txBody>
      </p:sp>
      <p:pic>
        <p:nvPicPr>
          <p:cNvPr descr="image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5650" y="4209008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7924800" y="4180433"/>
            <a:ext cx="971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ITCA-FEPADE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